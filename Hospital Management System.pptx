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74" r:id="rId5"/>
    <p:sldId id="260" r:id="rId6"/>
    <p:sldId id="270" r:id="rId7"/>
    <p:sldId id="261" r:id="rId8"/>
    <p:sldId id="273" r:id="rId9"/>
    <p:sldId id="265" r:id="rId10"/>
    <p:sldId id="267" r:id="rId11"/>
    <p:sldId id="27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14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B8410-0618-E6A8-33D8-13E3D430F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277F7-554F-BB84-D03B-5879DBCB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238E0-3286-C6D6-3948-87A7C5E50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03C42-3520-C385-9E2C-12140E1AE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45E5-4D55-B42F-88A3-CBB6D311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065D3-BED9-AF12-59A6-B68A8A85E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6D524-37D7-EF15-E937-23595842F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9CAE9-CC7C-63C6-30C6-AF0CE1F5A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66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95E2-D17F-0F98-B3B0-3746986D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75BB5-7951-C083-F9B3-D38545F22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F19ED-1D07-D9F7-6FEA-896F6DEFA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3416-B2BC-A1C9-0E2E-E2668FA5D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52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967D-39E5-B78C-F47A-A9FC64AF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0EDCA-DE7C-3D25-0AB6-E547905C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DCAF4-D3A0-20BF-99FB-F4C9E8677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26F44-B15B-7428-C612-07CF4254B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2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4.sv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sv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28594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952876"/>
            <a:ext cx="4063898" cy="18594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984" y="5079873"/>
            <a:ext cx="1396965" cy="120647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15973" y="2914128"/>
            <a:ext cx="10159746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r>
              <a:rPr lang="en-US" sz="4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4000" dirty="0"/>
          </a:p>
        </p:txBody>
      </p:sp>
      <p:sp>
        <p:nvSpPr>
          <p:cNvPr id="9" name="Text 1"/>
          <p:cNvSpPr/>
          <p:nvPr/>
        </p:nvSpPr>
        <p:spPr>
          <a:xfrm>
            <a:off x="1015975" y="2158946"/>
            <a:ext cx="10540736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1015973" y="3803106"/>
            <a:ext cx="10159746" cy="975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507985" y="4203589"/>
            <a:ext cx="11175721" cy="137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 TZE JUN
OOI HONG  ZHI
CHONG ZHENG YUAN 
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952876"/>
            <a:ext cx="4063898" cy="185940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790" y="0"/>
            <a:ext cx="3764185" cy="228594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952876"/>
            <a:ext cx="4063898" cy="18594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790" y="0"/>
            <a:ext cx="3764185" cy="228594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-150970" y="706828"/>
            <a:ext cx="7489041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MY" sz="3200" b="1" u="sng" dirty="0"/>
              <a:t>Web-Based Healthcare Administrative &amp; Patient Management Platform 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13" name="Text 1"/>
          <p:cNvSpPr/>
          <p:nvPr/>
        </p:nvSpPr>
        <p:spPr>
          <a:xfrm>
            <a:off x="780100" y="2351130"/>
            <a:ext cx="5626902" cy="428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MY" b="1" dirty="0"/>
              <a:t>Purpose of the Website: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Provide a centralized web-based interface to manage hospital administration, dynamic patient dynamic profiles, and user authentication seamlessly.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Bridge client-side user experience with backend relational database storage.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lvl="0"/>
            <a:r>
              <a:rPr lang="en-MY" b="1" dirty="0"/>
              <a:t>Website Design Concept: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Clean, professional medical layout focusing on readability, structural navigation, and ease of access for both users and administrators.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15AF4-2E39-1D46-65BB-C145F188BFCB}"/>
              </a:ext>
            </a:extLst>
          </p:cNvPr>
          <p:cNvSpPr txBox="1"/>
          <p:nvPr/>
        </p:nvSpPr>
        <p:spPr>
          <a:xfrm>
            <a:off x="6991236" y="2837427"/>
            <a:ext cx="230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latin typeface="Algerian" panose="04020705040A02060702" pitchFamily="82" charset="0"/>
              </a:rPr>
              <a:t>-Patient page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CB35B-F9D2-0FE7-D0D4-8D14A4F18AB1}"/>
              </a:ext>
            </a:extLst>
          </p:cNvPr>
          <p:cNvSpPr txBox="1"/>
          <p:nvPr/>
        </p:nvSpPr>
        <p:spPr>
          <a:xfrm>
            <a:off x="7041814" y="6258282"/>
            <a:ext cx="230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latin typeface="Algerian" panose="04020705040A02060702" pitchFamily="82" charset="0"/>
              </a:rPr>
              <a:t>-DOCTOR page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7EBDA8-FEFF-724A-7DC5-86A522B95A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019" y="3252711"/>
            <a:ext cx="4468348" cy="30055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B07F3B-4B7B-8F41-8756-48C090F821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1814" y="204964"/>
            <a:ext cx="4481938" cy="2632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3"/>
            <a:ext cx="1396965" cy="120647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3"/>
            <a:ext cx="1396965" cy="120647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2793930" y="2480127"/>
            <a:ext cx="6603835" cy="320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EED127-6985-916F-C407-0D9C03715404}"/>
              </a:ext>
            </a:extLst>
          </p:cNvPr>
          <p:cNvSpPr txBox="1"/>
          <p:nvPr/>
        </p:nvSpPr>
        <p:spPr>
          <a:xfrm>
            <a:off x="898358" y="638944"/>
            <a:ext cx="5309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u="sng" dirty="0"/>
              <a:t>Project Concept &amp; Target Audience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FD5E2-1F77-0FC0-99CF-B3B7B2CDF7FA}"/>
              </a:ext>
            </a:extLst>
          </p:cNvPr>
          <p:cNvSpPr txBox="1"/>
          <p:nvPr/>
        </p:nvSpPr>
        <p:spPr>
          <a:xfrm>
            <a:off x="898358" y="190495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Inspiration &amp; Background: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Traditional healthcare administrative workflows often face challenges with fragmented patient records, slow paper-based processing, and unintuitive interfaces.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Inspired by the need for accessible, modern web technologies to simplify administrative overhead and user data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Core Motivation: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Build a lightweight, scalable, full-stack hospital management web application that handles user authentication, profile customization, administrative control, and database persistence.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E54905-8AC9-9628-6ADC-02B1504EB5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6652" y="419756"/>
            <a:ext cx="4544610" cy="30092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CAD47D-32C4-0FF6-2DBD-293A0D973E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2021" y="3751611"/>
            <a:ext cx="4514995" cy="30092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2EE93-BE9E-C705-1A5F-88BA1662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3CF20CD-0B79-F2B0-BB95-491340D50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DAA1A04-5B6D-1FA5-7543-12A44B6C1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70CA706-7FBD-B843-8C65-433A29110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790" y="4571886"/>
            <a:ext cx="3764185" cy="224039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3E4A1EF-1FEE-0784-46D3-38C9DEC47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809905" cy="190495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64381D3-1E93-5E85-1753-36654072B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3"/>
            <a:ext cx="1396965" cy="120647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96034B1-5C99-FE3B-FB8E-75FE1CED4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81E6EA18-41BF-AB3A-1D27-155FCFAAE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3"/>
            <a:ext cx="1396965" cy="120647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6EA0C90A-C93A-FC18-D699-150927C464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9778" y="507987"/>
            <a:ext cx="1523962" cy="1269968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025159D4-A831-E8DA-F036-CB8445EC2805}"/>
              </a:ext>
            </a:extLst>
          </p:cNvPr>
          <p:cNvSpPr/>
          <p:nvPr/>
        </p:nvSpPr>
        <p:spPr>
          <a:xfrm>
            <a:off x="2793930" y="2480127"/>
            <a:ext cx="6603835" cy="320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CD04C5-0372-2ED0-BE75-F32CD46B0A34}"/>
              </a:ext>
            </a:extLst>
          </p:cNvPr>
          <p:cNvSpPr txBox="1"/>
          <p:nvPr/>
        </p:nvSpPr>
        <p:spPr>
          <a:xfrm>
            <a:off x="898358" y="638944"/>
            <a:ext cx="5309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u="sng" dirty="0"/>
              <a:t>Project Concept &amp; Target Audience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4041A-A9E7-C477-4656-DF568BF248F8}"/>
              </a:ext>
            </a:extLst>
          </p:cNvPr>
          <p:cNvSpPr txBox="1"/>
          <p:nvPr/>
        </p:nvSpPr>
        <p:spPr>
          <a:xfrm>
            <a:off x="890337" y="198712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Target Audience &amp; Primary Users: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b="1" dirty="0"/>
              <a:t>Hospital Administrators:</a:t>
            </a:r>
            <a:r>
              <a:rPr lang="en-MY" dirty="0"/>
              <a:t> Need quick access to manage system records and configuration settings.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b="1" dirty="0"/>
              <a:t>Patients / Registered Users:</a:t>
            </a:r>
            <a:r>
              <a:rPr lang="en-MY" dirty="0"/>
              <a:t> Require secure account creation, personal profile viewing, and account customization options.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Needs Fulfilled:</a:t>
            </a:r>
            <a:endParaRPr lang="en-MY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Role-based flow handling (Authentication &amp; Admin views).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Data persistence for user accounts and system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Intuitive portal for personal record management (</a:t>
            </a:r>
            <a:r>
              <a:rPr lang="en-MY" dirty="0" err="1">
                <a:latin typeface="Courier New" panose="02070309020205020404" pitchFamily="49" charset="0"/>
              </a:rPr>
              <a:t>profile.php</a:t>
            </a:r>
            <a:r>
              <a:rPr lang="en-MY" dirty="0"/>
              <a:t> and </a:t>
            </a:r>
            <a:r>
              <a:rPr lang="en-MY" dirty="0">
                <a:latin typeface="Courier New" panose="02070309020205020404" pitchFamily="49" charset="0"/>
              </a:rPr>
              <a:t>settings.html</a:t>
            </a:r>
            <a:r>
              <a:rPr lang="en-MY" dirty="0"/>
              <a:t>).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E9129C-A583-A4D9-4479-40C6F6D1C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690" y="381000"/>
            <a:ext cx="406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7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15975" y="634984"/>
            <a:ext cx="10159746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Stack &amp; Tools
</a:t>
            </a:r>
            <a:endParaRPr lang="en-US" sz="2900" dirty="0"/>
          </a:p>
        </p:txBody>
      </p:sp>
      <p:sp>
        <p:nvSpPr>
          <p:cNvPr id="9" name="Shape 1"/>
          <p:cNvSpPr/>
          <p:nvPr/>
        </p:nvSpPr>
        <p:spPr>
          <a:xfrm>
            <a:off x="380990" y="1650959"/>
            <a:ext cx="3606710" cy="3492541"/>
          </a:xfrm>
          <a:prstGeom prst="rect">
            <a:avLst/>
          </a:prstGeom>
          <a:noFill/>
          <a:ln/>
        </p:spPr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0990" y="1650959"/>
            <a:ext cx="3606710" cy="2336742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380990" y="4292493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for Structure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2" name="Text 3"/>
          <p:cNvSpPr/>
          <p:nvPr/>
        </p:nvSpPr>
        <p:spPr>
          <a:xfrm>
            <a:off x="380990" y="4952876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forms the backbone of the platform, creating accessible, semantic pages like index.html and profile.html, ensuring compatibility across browsers and devices for seamless user interaction.
</a:t>
            </a:r>
            <a:endParaRPr lang="en-US" sz="1300" dirty="0"/>
          </a:p>
        </p:txBody>
      </p:sp>
      <p:sp>
        <p:nvSpPr>
          <p:cNvPr id="13" name="Shape 4"/>
          <p:cNvSpPr/>
          <p:nvPr/>
        </p:nvSpPr>
        <p:spPr>
          <a:xfrm>
            <a:off x="4292493" y="1650959"/>
            <a:ext cx="3606710" cy="3492541"/>
          </a:xfrm>
          <a:prstGeom prst="rect">
            <a:avLst/>
          </a:prstGeom>
          <a:noFill/>
          <a:ln/>
        </p:spPr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92493" y="1650959"/>
            <a:ext cx="3606710" cy="2336742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4292493" y="4292493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for Styling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6" name="Text 6"/>
          <p:cNvSpPr/>
          <p:nvPr/>
        </p:nvSpPr>
        <p:spPr>
          <a:xfrm>
            <a:off x="4292493" y="4952876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styles the interface with a professional palette, responsive layouts, and intuitive navigation, enhancing readability and user experience on desktops, tablets, and smartphones.
</a:t>
            </a:r>
            <a:endParaRPr lang="en-US" sz="1300" dirty="0"/>
          </a:p>
        </p:txBody>
      </p:sp>
      <p:sp>
        <p:nvSpPr>
          <p:cNvPr id="17" name="Shape 7"/>
          <p:cNvSpPr/>
          <p:nvPr/>
        </p:nvSpPr>
        <p:spPr>
          <a:xfrm>
            <a:off x="8203995" y="1650959"/>
            <a:ext cx="940005" cy="3492541"/>
          </a:xfrm>
          <a:prstGeom prst="rect">
            <a:avLst/>
          </a:prstGeom>
          <a:noFill/>
          <a:ln/>
        </p:spPr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03995" y="1650959"/>
            <a:ext cx="3606710" cy="233674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203995" y="4292493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for Interactivity
</a:t>
            </a:r>
            <a:endParaRPr lang="en-US" dirty="0"/>
          </a:p>
        </p:txBody>
      </p:sp>
      <p:sp>
        <p:nvSpPr>
          <p:cNvPr id="20" name="Text 9"/>
          <p:cNvSpPr/>
          <p:nvPr/>
        </p:nvSpPr>
        <p:spPr>
          <a:xfrm>
            <a:off x="8203995" y="4952876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adds dynamic behaviors such as form validation, real-time updates, and interactive dashboards, improving usability and engagement for hospital staff and patients.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A3573-D203-E1EE-55D9-E65B849D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579EC1B-CD1F-4F01-D655-F74A78247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1FB35B6-4440-CF11-338B-991A17FF6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5AA465D-6534-0010-E99C-C29E0E164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48ACF922-CF3B-01CF-FBD3-1606F92EC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899E6AD-C63A-3027-E14A-17B97BAD0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5F5CCDB1-B757-8A0B-C43D-62484FE07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73F8D33E-16F5-B031-EEF1-E8A34B082EC1}"/>
              </a:ext>
            </a:extLst>
          </p:cNvPr>
          <p:cNvSpPr/>
          <p:nvPr/>
        </p:nvSpPr>
        <p:spPr>
          <a:xfrm>
            <a:off x="1015975" y="588906"/>
            <a:ext cx="10159746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Stack &amp; Tools
</a:t>
            </a:r>
            <a:endParaRPr lang="en-US" sz="29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2C1E8AC-1FDD-8F3A-1C6B-4B36C8F8FA6B}"/>
              </a:ext>
            </a:extLst>
          </p:cNvPr>
          <p:cNvSpPr/>
          <p:nvPr/>
        </p:nvSpPr>
        <p:spPr>
          <a:xfrm>
            <a:off x="380990" y="1650959"/>
            <a:ext cx="3606710" cy="3492541"/>
          </a:xfrm>
          <a:prstGeom prst="rect">
            <a:avLst/>
          </a:prstGeom>
          <a:noFill/>
          <a:ln/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AB460AE-8982-577E-64E5-61C59703F7B4}"/>
              </a:ext>
            </a:extLst>
          </p:cNvPr>
          <p:cNvSpPr/>
          <p:nvPr/>
        </p:nvSpPr>
        <p:spPr>
          <a:xfrm>
            <a:off x="1497143" y="4490064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for Loop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7578DAF-A76C-86BF-F0A8-C5F34150CB60}"/>
              </a:ext>
            </a:extLst>
          </p:cNvPr>
          <p:cNvSpPr/>
          <p:nvPr/>
        </p:nvSpPr>
        <p:spPr>
          <a:xfrm>
            <a:off x="1082296" y="5010752"/>
            <a:ext cx="3606710" cy="89638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400" dirty="0"/>
              <a:t>Server-side business logic and routing.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400" dirty="0"/>
              <a:t>Session maintenance and auth guards.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400" dirty="0"/>
              <a:t>Dynamic content loading via </a:t>
            </a:r>
            <a:r>
              <a:rPr lang="en-MY" sz="1400" dirty="0" err="1"/>
              <a:t>auth.php</a:t>
            </a:r>
            <a:r>
              <a:rPr lang="en-MY" sz="1400" dirty="0"/>
              <a:t>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DB0D957E-1703-7F28-3FC6-C90DF985920D}"/>
              </a:ext>
            </a:extLst>
          </p:cNvPr>
          <p:cNvSpPr/>
          <p:nvPr/>
        </p:nvSpPr>
        <p:spPr>
          <a:xfrm>
            <a:off x="4292493" y="1650959"/>
            <a:ext cx="3606710" cy="3492541"/>
          </a:xfrm>
          <a:prstGeom prst="rect">
            <a:avLst/>
          </a:prstGeom>
          <a:noFill/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DCEC31B-E634-BD9C-E8F5-E88DF8C34F84}"/>
              </a:ext>
            </a:extLst>
          </p:cNvPr>
          <p:cNvSpPr/>
          <p:nvPr/>
        </p:nvSpPr>
        <p:spPr>
          <a:xfrm>
            <a:off x="8203995" y="1650959"/>
            <a:ext cx="940005" cy="3492541"/>
          </a:xfrm>
          <a:prstGeom prst="rect">
            <a:avLst/>
          </a:prstGeom>
          <a:noFill/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AB022690-727B-2D50-8654-5881CB4DF3FD}"/>
              </a:ext>
            </a:extLst>
          </p:cNvPr>
          <p:cNvSpPr/>
          <p:nvPr/>
        </p:nvSpPr>
        <p:spPr>
          <a:xfrm>
            <a:off x="6936668" y="4495687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storing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4F48818-DAC6-D859-AE55-A9CDC1BC880F}"/>
              </a:ext>
            </a:extLst>
          </p:cNvPr>
          <p:cNvSpPr/>
          <p:nvPr/>
        </p:nvSpPr>
        <p:spPr>
          <a:xfrm>
            <a:off x="6936668" y="5010752"/>
            <a:ext cx="3606710" cy="89638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MY" sz="1400" dirty="0"/>
              <a:t>Relational tables (users, doctors, patients).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MY" sz="1400" dirty="0"/>
              <a:t>PDO connectivity with error handling.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MY" sz="1400" dirty="0"/>
              <a:t>Pre-configured schema and seed data.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8501980-06E0-B2EF-AB22-D2A6DC870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731" y="1363332"/>
            <a:ext cx="4967037" cy="33113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3910F9-E99D-53E3-305F-6DBEF6A4D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955" y="1797560"/>
            <a:ext cx="4104811" cy="25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0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83980" y="247535"/>
            <a:ext cx="5454323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u="sng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 &amp; Standout Features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10" name="Shape 1"/>
          <p:cNvSpPr/>
          <p:nvPr/>
        </p:nvSpPr>
        <p:spPr>
          <a:xfrm>
            <a:off x="380990" y="1600160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3" name="Shape 4"/>
          <p:cNvSpPr/>
          <p:nvPr/>
        </p:nvSpPr>
        <p:spPr>
          <a:xfrm>
            <a:off x="4546486" y="1600160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6" name="Shape 7"/>
          <p:cNvSpPr/>
          <p:nvPr/>
        </p:nvSpPr>
        <p:spPr>
          <a:xfrm>
            <a:off x="380990" y="4546486"/>
            <a:ext cx="8140496" cy="597014"/>
          </a:xfrm>
          <a:prstGeom prst="rect">
            <a:avLst/>
          </a:prstGeom>
          <a:noFill/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E693EA-5BCD-2EC0-47F8-5B52FD1A6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342" y="215181"/>
            <a:ext cx="5237280" cy="280274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50EF6D4-C64E-5085-3A94-D1784A1AD19A}"/>
              </a:ext>
            </a:extLst>
          </p:cNvPr>
          <p:cNvSpPr txBox="1"/>
          <p:nvPr/>
        </p:nvSpPr>
        <p:spPr>
          <a:xfrm>
            <a:off x="6038303" y="3045827"/>
            <a:ext cx="24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latin typeface="Algerian" panose="04020705040A02060702" pitchFamily="82" charset="0"/>
              </a:rPr>
              <a:t>Profile page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CBF9C8-D0AC-AF2D-3F3E-F6D980E3596D}"/>
              </a:ext>
            </a:extLst>
          </p:cNvPr>
          <p:cNvSpPr txBox="1"/>
          <p:nvPr/>
        </p:nvSpPr>
        <p:spPr>
          <a:xfrm>
            <a:off x="6038302" y="6261951"/>
            <a:ext cx="565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latin typeface="Algerian" panose="04020705040A02060702" pitchFamily="82" charset="0"/>
              </a:rPr>
              <a:t>ADMIN Page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595C03-F89F-5C5F-3B28-41F61128AD1D}"/>
              </a:ext>
            </a:extLst>
          </p:cNvPr>
          <p:cNvSpPr txBox="1"/>
          <p:nvPr/>
        </p:nvSpPr>
        <p:spPr>
          <a:xfrm>
            <a:off x="46025" y="1600160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sz="1600" b="1" dirty="0"/>
              <a:t>Core System Features:</a:t>
            </a:r>
            <a:endParaRPr lang="en-MY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600" b="1" dirty="0"/>
              <a:t>User Authentication Engine:</a:t>
            </a:r>
            <a:r>
              <a:rPr lang="en-MY" sz="1600" dirty="0"/>
              <a:t> Secure registration, login handling, session maintenance (</a:t>
            </a:r>
            <a:r>
              <a:rPr lang="en-MY" sz="1600" dirty="0" err="1">
                <a:latin typeface="Courier New" panose="02070309020205020404" pitchFamily="49" charset="0"/>
              </a:rPr>
              <a:t>auth.php</a:t>
            </a:r>
            <a:r>
              <a:rPr lang="en-MY" sz="1600" dirty="0"/>
              <a:t>), and safe logout workflows (</a:t>
            </a:r>
            <a:r>
              <a:rPr lang="en-MY" sz="1600" dirty="0" err="1">
                <a:latin typeface="Courier New" panose="02070309020205020404" pitchFamily="49" charset="0"/>
              </a:rPr>
              <a:t>logout.php</a:t>
            </a:r>
            <a:r>
              <a:rPr lang="en-MY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600" b="1" dirty="0"/>
              <a:t>Administrative Dashboard:</a:t>
            </a:r>
            <a:r>
              <a:rPr lang="en-MY" sz="1600" dirty="0"/>
              <a:t> Centralized panel (</a:t>
            </a:r>
            <a:r>
              <a:rPr lang="en-MY" sz="1600" dirty="0">
                <a:latin typeface="Courier New" panose="02070309020205020404" pitchFamily="49" charset="0"/>
              </a:rPr>
              <a:t>admin.html</a:t>
            </a:r>
            <a:r>
              <a:rPr lang="en-MY" sz="1600" dirty="0"/>
              <a:t>/</a:t>
            </a:r>
            <a:r>
              <a:rPr lang="en-MY" sz="1600" dirty="0" err="1">
                <a:latin typeface="Courier New" panose="02070309020205020404" pitchFamily="49" charset="0"/>
              </a:rPr>
              <a:t>admin.php</a:t>
            </a:r>
            <a:r>
              <a:rPr lang="en-MY" sz="1600" dirty="0"/>
              <a:t>) to view and oversee system data and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600" b="1" dirty="0"/>
              <a:t>Dynamic Profile &amp; Settings Management:</a:t>
            </a:r>
            <a:r>
              <a:rPr lang="en-MY" sz="1600" dirty="0"/>
              <a:t> Allows registered users to view profile details and adjust preferences through backend script integration.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1600" b="1" dirty="0"/>
              <a:t>Database Auto-Seeding &amp; Schema:</a:t>
            </a:r>
            <a:r>
              <a:rPr lang="en-MY" sz="1600" dirty="0"/>
              <a:t> Pre-configured SQL schema execution and dataset populator script (</a:t>
            </a:r>
            <a:r>
              <a:rPr lang="en-MY" sz="1600" dirty="0" err="1">
                <a:latin typeface="Courier New" panose="02070309020205020404" pitchFamily="49" charset="0"/>
              </a:rPr>
              <a:t>seed.php</a:t>
            </a:r>
            <a:r>
              <a:rPr lang="en-MY" sz="1600" dirty="0"/>
              <a:t>) for rapid deployment and testing.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99EC37-78B5-8C6A-6B9B-F811AF045E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3342" y="3335785"/>
            <a:ext cx="5237280" cy="2926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F35A1-A8A6-E5DE-710A-87F19373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BA19BAA-C422-BE05-F553-37DF57072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F033502-1BA3-B76E-9D50-B1A063FDC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F4EBE5CE-EC82-2688-B7C5-4005BF1C2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C4E3A8D1-923E-CC45-C9F1-4C5C7FA45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3BD0256-5733-6EA5-0565-DD290FFF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DF8309F-A36F-6C77-6A95-CA8B1D66FD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A9B18012-C50B-B0CC-7849-06EB5007EAED}"/>
              </a:ext>
            </a:extLst>
          </p:cNvPr>
          <p:cNvSpPr/>
          <p:nvPr/>
        </p:nvSpPr>
        <p:spPr>
          <a:xfrm>
            <a:off x="380990" y="1600160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50D2E6F-8964-F5F5-CE4A-5E2AB2E22AC7}"/>
              </a:ext>
            </a:extLst>
          </p:cNvPr>
          <p:cNvSpPr/>
          <p:nvPr/>
        </p:nvSpPr>
        <p:spPr>
          <a:xfrm>
            <a:off x="4635546" y="2229169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8F8E743-24FE-F856-7B44-78174219CB06}"/>
              </a:ext>
            </a:extLst>
          </p:cNvPr>
          <p:cNvSpPr/>
          <p:nvPr/>
        </p:nvSpPr>
        <p:spPr>
          <a:xfrm>
            <a:off x="380990" y="4546486"/>
            <a:ext cx="8140496" cy="597014"/>
          </a:xfrm>
          <a:prstGeom prst="rect">
            <a:avLst/>
          </a:prstGeom>
          <a:noFill/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9640BA-1315-762D-0092-5CD5A3606106}"/>
              </a:ext>
            </a:extLst>
          </p:cNvPr>
          <p:cNvSpPr txBox="1"/>
          <p:nvPr/>
        </p:nvSpPr>
        <p:spPr>
          <a:xfrm>
            <a:off x="6127363" y="6209389"/>
            <a:ext cx="24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latin typeface="Algerian" panose="04020705040A02060702" pitchFamily="82" charset="0"/>
              </a:rPr>
              <a:t>LOGIN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C80B4-E8E6-38D0-3CD4-090C00991236}"/>
              </a:ext>
            </a:extLst>
          </p:cNvPr>
          <p:cNvSpPr txBox="1"/>
          <p:nvPr/>
        </p:nvSpPr>
        <p:spPr>
          <a:xfrm>
            <a:off x="626713" y="2590172"/>
            <a:ext cx="46806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Standout Design &amp; Architectural Highlights:</a:t>
            </a:r>
            <a:endParaRPr lang="en-MY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Hybrid Template Architecture:</a:t>
            </a:r>
            <a:r>
              <a:rPr lang="en-MY" dirty="0"/>
              <a:t> Clear separation between backend execution logic (PHP) and static interface layouts (HTML/CSS).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MY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MY" b="1" dirty="0"/>
              <a:t>Modular Database Handlers:</a:t>
            </a:r>
            <a:r>
              <a:rPr lang="en-MY" dirty="0"/>
              <a:t> Centralized database connection logic (</a:t>
            </a:r>
            <a:r>
              <a:rPr lang="en-MY" dirty="0" err="1">
                <a:latin typeface="Courier New" panose="02070309020205020404" pitchFamily="49" charset="0"/>
              </a:rPr>
              <a:t>db.php</a:t>
            </a:r>
            <a:r>
              <a:rPr lang="en-MY" dirty="0"/>
              <a:t>) allowing efficient SQL execution across all dynamic endpoints.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DD76F16C-6041-0E47-63E4-9FEEFF84DA8B}"/>
              </a:ext>
            </a:extLst>
          </p:cNvPr>
          <p:cNvSpPr/>
          <p:nvPr/>
        </p:nvSpPr>
        <p:spPr>
          <a:xfrm>
            <a:off x="813706" y="262465"/>
            <a:ext cx="5454323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u="sng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 &amp; Standout Features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AA48E3-14F7-D298-2566-178D0DEEE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886"/>
            <a:ext cx="5076598" cy="2611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672C68-F9D6-2476-7670-F6EE7135D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5174" y="3272373"/>
            <a:ext cx="5245950" cy="28623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1D6C290-D78F-A43C-BA25-4CF59EE75170}"/>
              </a:ext>
            </a:extLst>
          </p:cNvPr>
          <p:cNvSpPr txBox="1"/>
          <p:nvPr/>
        </p:nvSpPr>
        <p:spPr>
          <a:xfrm>
            <a:off x="6051002" y="2790816"/>
            <a:ext cx="247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err="1">
                <a:latin typeface="Algerian" panose="04020705040A02060702" pitchFamily="82" charset="0"/>
              </a:rPr>
              <a:t>REgister</a:t>
            </a:r>
            <a:r>
              <a:rPr lang="en-MY" dirty="0">
                <a:latin typeface="Algerian" panose="04020705040A02060702" pitchFamily="82" charset="0"/>
              </a:rPr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321413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888978"/>
            <a:ext cx="10159746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 &amp; System Operations
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3962" y="2246574"/>
            <a:ext cx="9143771" cy="3406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16279" y="906634"/>
            <a:ext cx="10159746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u="sng" dirty="0">
                <a:solidFill>
                  <a:srgbClr val="2D3436"/>
                </a:solidFill>
                <a:ea typeface="Calibri" pitchFamily="34" charset="-122"/>
                <a:cs typeface="Calibri" pitchFamily="34" charset="-120"/>
              </a:rPr>
              <a:t>Future Enhancement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9" name="Text 1"/>
          <p:cNvSpPr/>
          <p:nvPr/>
        </p:nvSpPr>
        <p:spPr>
          <a:xfrm>
            <a:off x="1016279" y="1991311"/>
            <a:ext cx="355591" cy="3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1524266" y="1914748"/>
            <a:ext cx="8005049" cy="5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MY" sz="3200" b="1" dirty="0"/>
              <a:t>Security &amp; Authentication Enhancements 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11" name="Text 3"/>
          <p:cNvSpPr/>
          <p:nvPr/>
        </p:nvSpPr>
        <p:spPr>
          <a:xfrm>
            <a:off x="1532287" y="2517163"/>
            <a:ext cx="8318292" cy="69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MY" sz="1400" dirty="0"/>
              <a:t>Use PDO or </a:t>
            </a:r>
            <a:r>
              <a:rPr lang="en-MY" sz="1400" dirty="0" err="1"/>
              <a:t>MySQLi</a:t>
            </a:r>
            <a:r>
              <a:rPr lang="en-MY" sz="1400" dirty="0"/>
              <a:t> prepared statements across all PHP query files (</a:t>
            </a:r>
            <a:r>
              <a:rPr lang="en-MY" sz="1400" dirty="0" err="1"/>
              <a:t>login.php</a:t>
            </a:r>
            <a:r>
              <a:rPr lang="en-MY" sz="1400" dirty="0"/>
              <a:t>, </a:t>
            </a:r>
            <a:r>
              <a:rPr lang="en-MY" sz="1400" dirty="0" err="1"/>
              <a:t>register.php</a:t>
            </a:r>
            <a:r>
              <a:rPr lang="en-MY" sz="1400" dirty="0"/>
              <a:t>, </a:t>
            </a:r>
            <a:r>
              <a:rPr lang="en-MY" sz="1400" dirty="0" err="1"/>
              <a:t>profile.php</a:t>
            </a:r>
            <a:r>
              <a:rPr lang="en-MY" sz="1400" dirty="0"/>
              <a:t>) to prevent SQL Injection vulnerabilities. 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1016279" y="3185081"/>
            <a:ext cx="355591" cy="3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5"/>
          <p:cNvSpPr/>
          <p:nvPr/>
        </p:nvSpPr>
        <p:spPr>
          <a:xfrm>
            <a:off x="1524266" y="3101349"/>
            <a:ext cx="83182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MY" sz="3200" b="1" dirty="0"/>
              <a:t>Functional &amp; Architecture Upgrades</a:t>
            </a:r>
            <a:r>
              <a:rPr lang="en-MY" sz="3200" dirty="0"/>
              <a:t> 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14" name="Text 6"/>
          <p:cNvSpPr/>
          <p:nvPr/>
        </p:nvSpPr>
        <p:spPr>
          <a:xfrm>
            <a:off x="1532287" y="3685534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Role-Based Access Control (RBAC):</a:t>
            </a:r>
            <a:r>
              <a:rPr lang="en-MY" sz="1400" dirty="0"/>
              <a:t> Restrict access in </a:t>
            </a:r>
            <a:r>
              <a:rPr lang="en-MY" sz="1600" dirty="0" err="1"/>
              <a:t>auth.php</a:t>
            </a:r>
            <a:r>
              <a:rPr lang="en-MY" sz="1600" dirty="0"/>
              <a:t> </a:t>
            </a:r>
            <a:r>
              <a:rPr lang="en-MY" sz="1400" dirty="0"/>
              <a:t>based on explicit database roles (e.g., admin, doctor, patient) to prevent unauthorized portal viewing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1016279" y="4353452"/>
            <a:ext cx="355591" cy="3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1524266" y="4353452"/>
            <a:ext cx="83182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MY" sz="3200" b="1" dirty="0"/>
              <a:t>User Experience Improvements </a:t>
            </a:r>
            <a:r>
              <a:rPr lang="en-US" sz="2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17" name="Text 9"/>
          <p:cNvSpPr/>
          <p:nvPr/>
        </p:nvSpPr>
        <p:spPr>
          <a:xfrm>
            <a:off x="1531983" y="4338212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015975" y="4978276"/>
            <a:ext cx="355591" cy="3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1540004" y="5506583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980B014-0EB9-C0FD-53AD-D3F247E9372B}"/>
              </a:ext>
            </a:extLst>
          </p:cNvPr>
          <p:cNvSpPr/>
          <p:nvPr/>
        </p:nvSpPr>
        <p:spPr>
          <a:xfrm>
            <a:off x="1540308" y="4871598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MY" sz="1400" dirty="0"/>
              <a:t>Provide more language option for patient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MY" sz="1400" b="1" dirty="0"/>
              <a:t>Form Validation:</a:t>
            </a:r>
            <a:r>
              <a:rPr lang="en-MY" sz="1400" dirty="0"/>
              <a:t> Enhance </a:t>
            </a:r>
            <a:r>
              <a:rPr lang="en-MY" dirty="0"/>
              <a:t>script.js</a:t>
            </a:r>
            <a:r>
              <a:rPr lang="en-MY" sz="1400" dirty="0"/>
              <a:t> with client-side form validation feedback (real-time error messages for invalid emails, weak passwords, or empty fields) before submitting requests to PHP scripts.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BFEB1-E6FC-1D74-E382-7300670F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F2E3004-A391-A03A-0529-5CA67E654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AD31A79-BFD5-C379-3E81-2CD39916B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C361767-9373-7A12-CB8C-0B7D3F196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952876"/>
            <a:ext cx="3809905" cy="185940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0CFFD43-9FB1-A044-C5F0-3A9B3E16B0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790" y="0"/>
            <a:ext cx="3764185" cy="203194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17F9116-884C-B8B2-5F86-EB3047EC4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73BFEA8B-3BCF-5023-A272-76E1900E7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84" y="507987"/>
            <a:ext cx="1269968" cy="114297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DD7880E7-1A55-69A2-8F84-F69CC799936C}"/>
              </a:ext>
            </a:extLst>
          </p:cNvPr>
          <p:cNvSpPr/>
          <p:nvPr/>
        </p:nvSpPr>
        <p:spPr>
          <a:xfrm>
            <a:off x="1531983" y="4338212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ABA138A-E313-74D5-B868-9EA61D91582A}"/>
              </a:ext>
            </a:extLst>
          </p:cNvPr>
          <p:cNvSpPr/>
          <p:nvPr/>
        </p:nvSpPr>
        <p:spPr>
          <a:xfrm>
            <a:off x="1015975" y="4978276"/>
            <a:ext cx="355591" cy="3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2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29B6EBD-D9B7-2568-3B7F-2F0DBB51C36C}"/>
              </a:ext>
            </a:extLst>
          </p:cNvPr>
          <p:cNvSpPr/>
          <p:nvPr/>
        </p:nvSpPr>
        <p:spPr>
          <a:xfrm>
            <a:off x="1540004" y="5506583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89371FE2-3874-44A2-0BC6-AAF88A05E308}"/>
              </a:ext>
            </a:extLst>
          </p:cNvPr>
          <p:cNvSpPr/>
          <p:nvPr/>
        </p:nvSpPr>
        <p:spPr>
          <a:xfrm>
            <a:off x="1540308" y="4871598"/>
            <a:ext cx="8318292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72F67-7F30-F23E-A146-30A8A396A25B}"/>
              </a:ext>
            </a:extLst>
          </p:cNvPr>
          <p:cNvSpPr txBox="1"/>
          <p:nvPr/>
        </p:nvSpPr>
        <p:spPr>
          <a:xfrm>
            <a:off x="3377589" y="2695710"/>
            <a:ext cx="6713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2931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734</Words>
  <Application>Microsoft Office PowerPoint</Application>
  <PresentationFormat>Widescreen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waybinent@outlook.com</cp:lastModifiedBy>
  <cp:revision>3</cp:revision>
  <dcterms:created xsi:type="dcterms:W3CDTF">2026-08-05T02:29:39Z</dcterms:created>
  <dcterms:modified xsi:type="dcterms:W3CDTF">2026-08-05T05:50:48Z</dcterms:modified>
</cp:coreProperties>
</file>